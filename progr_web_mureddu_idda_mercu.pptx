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1DE37-E6D1-37BB-D67B-C6D3CA6EE603}" v="1139" dt="2025-07-17T16:14:26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1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1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78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1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3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0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86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7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18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1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935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cquarello liquido e inchiostro">
            <a:extLst>
              <a:ext uri="{FF2B5EF4-FFF2-40B4-BE49-F238E27FC236}">
                <a16:creationId xmlns:a16="http://schemas.microsoft.com/office/drawing/2014/main" id="{D46BFDE5-C5D6-CD2B-6379-0E6F5126D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7" b="58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anchor="t">
            <a:normAutofit/>
          </a:bodyPr>
          <a:lstStyle/>
          <a:p>
            <a:r>
              <a:rPr lang="de-DE" sz="4200">
                <a:solidFill>
                  <a:srgbClr val="FFFFFF"/>
                </a:solidFill>
              </a:rPr>
              <a:t>Progetto programmazione web – Fast API 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704088" y="5157694"/>
            <a:ext cx="5019676" cy="97640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1900">
                <a:solidFill>
                  <a:srgbClr val="FFFFFF"/>
                </a:solidFill>
              </a:rPr>
              <a:t>S.Mureddu</a:t>
            </a:r>
            <a:br>
              <a:rPr lang="de-DE" sz="1900">
                <a:solidFill>
                  <a:srgbClr val="FFFFFF"/>
                </a:solidFill>
              </a:rPr>
            </a:br>
            <a:r>
              <a:rPr lang="de-DE" sz="1900">
                <a:solidFill>
                  <a:srgbClr val="FFFFFF"/>
                </a:solidFill>
              </a:rPr>
              <a:t>M.Idda</a:t>
            </a:r>
            <a:br>
              <a:rPr lang="de-DE" sz="1900">
                <a:solidFill>
                  <a:srgbClr val="FFFFFF"/>
                </a:solidFill>
              </a:rPr>
            </a:br>
            <a:r>
              <a:rPr lang="de-DE" sz="1900">
                <a:solidFill>
                  <a:srgbClr val="FFFFFF"/>
                </a:solidFill>
              </a:rPr>
              <a:t>A.Mercurelli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583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1FE9ED9-AB16-2C89-D30E-87510591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3721629" cy="5617672"/>
          </a:xfrm>
        </p:spPr>
        <p:txBody>
          <a:bodyPr>
            <a:normAutofit/>
          </a:bodyPr>
          <a:lstStyle/>
          <a:p>
            <a:r>
              <a:rPr lang="it-IT" dirty="0"/>
              <a:t>Introduzione alla classe – user </a:t>
            </a:r>
            <a:br>
              <a:rPr lang="it-IT" dirty="0"/>
            </a:br>
            <a:r>
              <a:rPr lang="it-IT" dirty="0" err="1"/>
              <a:t>idda</a:t>
            </a:r>
            <a:r>
              <a:rPr lang="it-IT" dirty="0"/>
              <a:t> </a:t>
            </a:r>
            <a:r>
              <a:rPr lang="it-IT" dirty="0" err="1"/>
              <a:t>matteo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ADEB6FEA-B4E9-5E4B-A94C-34826EBD5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43" b="1"/>
          <a:stretch>
            <a:fillRect/>
          </a:stretch>
        </p:blipFill>
        <p:spPr>
          <a:xfrm>
            <a:off x="5672665" y="555712"/>
            <a:ext cx="5719230" cy="2568488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8AAAC0-C9C9-88EE-9F8D-B43D2BF3A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9" y="3368485"/>
            <a:ext cx="5920256" cy="280489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100">
                <a:latin typeface="Arial"/>
                <a:cs typeface="Arial"/>
              </a:rPr>
              <a:t>La classe user rappresenta un utente del sistema, ed è mappata su una tabella del database tramite </a:t>
            </a:r>
            <a:r>
              <a:rPr lang="it-IT" sz="1100" err="1">
                <a:latin typeface="Arial"/>
                <a:cs typeface="Arial"/>
              </a:rPr>
              <a:t>SQLModel</a:t>
            </a:r>
            <a:r>
              <a:rPr lang="it-IT" sz="110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it-IT" sz="1100">
                <a:latin typeface="Arial"/>
                <a:cs typeface="Arial"/>
              </a:rPr>
              <a:t>I suoi campi sono</a:t>
            </a:r>
            <a:br>
              <a:rPr lang="it-IT" sz="1100">
                <a:latin typeface="Arial"/>
              </a:rPr>
            </a:br>
            <a:r>
              <a:rPr lang="it-IT" sz="1100">
                <a:latin typeface="Arial"/>
                <a:cs typeface="Arial"/>
              </a:rPr>
              <a:t>- Username (chiave primaria)</a:t>
            </a:r>
            <a:br>
              <a:rPr lang="it-IT" sz="1100">
                <a:latin typeface="Arial"/>
              </a:rPr>
            </a:br>
            <a:r>
              <a:rPr lang="it-IT" sz="1100">
                <a:latin typeface="Arial"/>
                <a:cs typeface="Arial"/>
              </a:rPr>
              <a:t>-Name </a:t>
            </a:r>
            <a:br>
              <a:rPr lang="it-IT" sz="1100">
                <a:latin typeface="Arial"/>
              </a:rPr>
            </a:br>
            <a:r>
              <a:rPr lang="it-IT" sz="1100">
                <a:latin typeface="Arial"/>
                <a:cs typeface="Arial"/>
              </a:rPr>
              <a:t>-Email</a:t>
            </a:r>
          </a:p>
          <a:p>
            <a:pPr>
              <a:lnSpc>
                <a:spcPct val="100000"/>
              </a:lnSpc>
            </a:pPr>
            <a:r>
              <a:rPr lang="it-IT" sz="1100">
                <a:latin typeface="Arial"/>
                <a:ea typeface="+mn-lt"/>
                <a:cs typeface="+mn-lt"/>
              </a:rPr>
              <a:t>Modello di creazione utente (</a:t>
            </a:r>
            <a:r>
              <a:rPr lang="it-IT" sz="1100" err="1">
                <a:latin typeface="Arial"/>
                <a:cs typeface="Arial"/>
              </a:rPr>
              <a:t>CreaUtente</a:t>
            </a:r>
            <a:r>
              <a:rPr lang="it-IT" sz="1100">
                <a:latin typeface="Arial"/>
                <a:ea typeface="+mn-lt"/>
                <a:cs typeface="+mn-lt"/>
              </a:rPr>
              <a:t>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100">
                <a:latin typeface="Arial"/>
                <a:ea typeface="+mn-lt"/>
                <a:cs typeface="+mn-lt"/>
              </a:rPr>
              <a:t>    -Viene utilizzato per ricevere i dati in input al momento della creazione.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100">
                <a:latin typeface="Arial"/>
                <a:ea typeface="+mn-lt"/>
                <a:cs typeface="+mn-lt"/>
              </a:rPr>
              <a:t>    - È separato da </a:t>
            </a:r>
            <a:r>
              <a:rPr lang="it-IT" sz="1100">
                <a:latin typeface="Arial"/>
                <a:cs typeface="Arial"/>
              </a:rPr>
              <a:t>User</a:t>
            </a:r>
            <a:r>
              <a:rPr lang="it-IT" sz="1100">
                <a:latin typeface="Arial"/>
                <a:ea typeface="+mn-lt"/>
                <a:cs typeface="+mn-lt"/>
              </a:rPr>
              <a:t> per motivi di pulizia del codice.</a:t>
            </a:r>
          </a:p>
          <a:p>
            <a:pPr marL="0" indent="0">
              <a:lnSpc>
                <a:spcPct val="100000"/>
              </a:lnSpc>
              <a:buNone/>
            </a:pPr>
            <a:endParaRPr lang="it-IT" sz="11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100">
                <a:latin typeface="Arial"/>
                <a:cs typeface="Arial"/>
              </a:rPr>
              <a:t>  Interagisce con altra classe "</a:t>
            </a:r>
            <a:r>
              <a:rPr lang="it-IT" sz="1100" err="1">
                <a:latin typeface="Arial"/>
                <a:cs typeface="Arial"/>
              </a:rPr>
              <a:t>Registration</a:t>
            </a:r>
            <a:r>
              <a:rPr lang="it-IT" sz="1100">
                <a:latin typeface="Arial"/>
                <a:cs typeface="Arial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338652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A3A9B42-DC97-007F-8304-13957AB62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 fontScale="90000"/>
          </a:bodyPr>
          <a:lstStyle/>
          <a:p>
            <a:r>
              <a:rPr lang="it-IT" dirty="0"/>
              <a:t>API – GET/</a:t>
            </a:r>
            <a:r>
              <a:rPr lang="it-IT" dirty="0" err="1"/>
              <a:t>USERs</a:t>
            </a:r>
            <a:r>
              <a:rPr lang="it-IT" dirty="0"/>
              <a:t>/</a:t>
            </a:r>
            <a:br>
              <a:rPr lang="en-US" dirty="0"/>
            </a:br>
            <a:br>
              <a:rPr lang="it-IT" dirty="0"/>
            </a:br>
            <a:r>
              <a:rPr lang="it-IT" dirty="0" err="1"/>
              <a:t>idda</a:t>
            </a:r>
            <a:r>
              <a:rPr lang="it-IT" dirty="0"/>
              <a:t> </a:t>
            </a:r>
            <a:r>
              <a:rPr lang="it-IT" dirty="0" err="1"/>
              <a:t>matteo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ECDA58-6A88-97F9-CFEE-62D51E7FE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353" y="1013947"/>
            <a:ext cx="5520202" cy="253099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it-IT" dirty="0">
                <a:latin typeface="Arial"/>
                <a:ea typeface="+mn-lt"/>
                <a:cs typeface="+mn-lt"/>
              </a:rPr>
              <a:t>Funzionalità: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dirty="0">
                <a:latin typeface="Arial"/>
                <a:ea typeface="+mn-lt"/>
                <a:cs typeface="+mn-lt"/>
              </a:rPr>
              <a:t>Restituisce una lista con tutti gli utenti presenti nel database.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dirty="0">
                <a:latin typeface="Arial"/>
                <a:ea typeface="+mn-lt"/>
                <a:cs typeface="+mn-lt"/>
              </a:rPr>
              <a:t>Utilizza una query </a:t>
            </a:r>
            <a:r>
              <a:rPr lang="it-IT" dirty="0" err="1">
                <a:latin typeface="Arial"/>
                <a:cs typeface="Arial"/>
              </a:rPr>
              <a:t>select</a:t>
            </a:r>
            <a:r>
              <a:rPr lang="it-IT" dirty="0">
                <a:latin typeface="Arial"/>
                <a:cs typeface="Arial"/>
              </a:rPr>
              <a:t>(User)</a:t>
            </a:r>
            <a:r>
              <a:rPr lang="it-IT" dirty="0">
                <a:latin typeface="Arial"/>
                <a:ea typeface="+mn-lt"/>
                <a:cs typeface="+mn-lt"/>
              </a:rPr>
              <a:t> tramite </a:t>
            </a:r>
            <a:r>
              <a:rPr lang="it-IT" dirty="0" err="1">
                <a:latin typeface="Arial"/>
                <a:ea typeface="+mn-lt"/>
                <a:cs typeface="+mn-lt"/>
              </a:rPr>
              <a:t>SQLModel</a:t>
            </a:r>
            <a:r>
              <a:rPr lang="it-IT" dirty="0">
                <a:latin typeface="Arial"/>
                <a:ea typeface="+mn-lt"/>
                <a:cs typeface="+mn-lt"/>
              </a:rPr>
              <a:t>.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dirty="0">
                <a:latin typeface="Arial"/>
                <a:ea typeface="+mn-lt"/>
                <a:cs typeface="+mn-lt"/>
              </a:rPr>
              <a:t>Visualizzazione generale degli utenti registrati nel sistema.</a:t>
            </a:r>
            <a:endParaRPr lang="it-IT" dirty="0">
              <a:latin typeface="Arial"/>
              <a:cs typeface="Arial"/>
            </a:endParaRPr>
          </a:p>
          <a:p>
            <a:endParaRPr lang="it-IT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C7BEC468-5FF0-F7F2-8EDC-165737DD7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175" y="3816804"/>
            <a:ext cx="51244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50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1643025-2B88-6974-CE41-BC201640E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 fontScale="90000"/>
          </a:bodyPr>
          <a:lstStyle/>
          <a:p>
            <a:r>
              <a:rPr lang="it-IT" dirty="0"/>
              <a:t>Api – post/users/</a:t>
            </a:r>
            <a:br>
              <a:rPr lang="it-IT" dirty="0"/>
            </a:br>
            <a:br>
              <a:rPr lang="it-IT" dirty="0"/>
            </a:br>
            <a:r>
              <a:rPr lang="it-IT" dirty="0" err="1"/>
              <a:t>idda</a:t>
            </a:r>
            <a:r>
              <a:rPr lang="it-IT" dirty="0"/>
              <a:t> </a:t>
            </a:r>
            <a:r>
              <a:rPr lang="it-IT" dirty="0" err="1"/>
              <a:t>matteo</a:t>
            </a:r>
          </a:p>
        </p:txBody>
      </p:sp>
      <p:pic>
        <p:nvPicPr>
          <p:cNvPr id="4" name="Immagine 3" descr="Immagine che contiene testo, schermata, Carattere, software&#10;&#10;Il contenuto generato dall&amp;#39;IA potrebbe non essere corretto.">
            <a:extLst>
              <a:ext uri="{FF2B5EF4-FFF2-40B4-BE49-F238E27FC236}">
                <a16:creationId xmlns:a16="http://schemas.microsoft.com/office/drawing/2014/main" id="{78238727-8ECF-4EDE-629E-2AC47FB976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45" b="1"/>
          <a:stretch>
            <a:fillRect/>
          </a:stretch>
        </p:blipFill>
        <p:spPr>
          <a:xfrm>
            <a:off x="800100" y="717656"/>
            <a:ext cx="10591800" cy="30861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E89464-71E2-FEDF-EBA8-5CD9CBEF8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3" y="4088705"/>
            <a:ext cx="6135924" cy="209397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100">
                <a:latin typeface="Arial"/>
                <a:ea typeface="+mn-lt"/>
                <a:cs typeface="+mn-lt"/>
              </a:rPr>
              <a:t>Funzionalità:</a:t>
            </a:r>
            <a:endParaRPr lang="it-IT" sz="11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100">
                <a:latin typeface="Arial"/>
                <a:ea typeface="+mn-lt"/>
                <a:cs typeface="+mn-lt"/>
              </a:rPr>
              <a:t>Riceve un oggetto </a:t>
            </a:r>
            <a:r>
              <a:rPr lang="it-IT" sz="1100">
                <a:latin typeface="Arial"/>
                <a:cs typeface="Arial"/>
              </a:rPr>
              <a:t>"</a:t>
            </a:r>
            <a:r>
              <a:rPr lang="it-IT" sz="1100" err="1">
                <a:latin typeface="Arial"/>
                <a:cs typeface="Arial"/>
              </a:rPr>
              <a:t>CreaUtente</a:t>
            </a:r>
            <a:r>
              <a:rPr lang="it-IT" sz="1100">
                <a:latin typeface="Arial"/>
                <a:ea typeface="+mn-lt"/>
                <a:cs typeface="+mn-lt"/>
              </a:rPr>
              <a:t>".</a:t>
            </a:r>
            <a:endParaRPr lang="it-IT" sz="11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100">
                <a:latin typeface="Arial"/>
                <a:ea typeface="+mn-lt"/>
                <a:cs typeface="+mn-lt"/>
              </a:rPr>
              <a:t>Verifica che lo </a:t>
            </a:r>
            <a:r>
              <a:rPr lang="it-IT" sz="1100">
                <a:latin typeface="Arial"/>
                <a:cs typeface="Arial"/>
              </a:rPr>
              <a:t>username</a:t>
            </a:r>
            <a:r>
              <a:rPr lang="it-IT" sz="1100">
                <a:latin typeface="Arial"/>
                <a:ea typeface="+mn-lt"/>
                <a:cs typeface="+mn-lt"/>
              </a:rPr>
              <a:t> non sia già presente (unicità garantita).</a:t>
            </a:r>
            <a:endParaRPr lang="it-IT" sz="11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100">
                <a:latin typeface="Arial"/>
                <a:ea typeface="+mn-lt"/>
                <a:cs typeface="+mn-lt"/>
              </a:rPr>
              <a:t>In caso positivo, restituisce "errore </a:t>
            </a:r>
            <a:r>
              <a:rPr lang="it-IT" sz="1100">
                <a:latin typeface="Arial"/>
                <a:cs typeface="Arial"/>
              </a:rPr>
              <a:t>400 </a:t>
            </a:r>
            <a:r>
              <a:rPr lang="it-IT" sz="1100" err="1">
                <a:latin typeface="Arial"/>
                <a:cs typeface="Arial"/>
              </a:rPr>
              <a:t>Bad</a:t>
            </a:r>
            <a:r>
              <a:rPr lang="it-IT" sz="1100">
                <a:latin typeface="Arial"/>
                <a:cs typeface="Arial"/>
              </a:rPr>
              <a:t> </a:t>
            </a:r>
            <a:r>
              <a:rPr lang="it-IT" sz="1100" err="1">
                <a:latin typeface="Arial"/>
                <a:cs typeface="Arial"/>
              </a:rPr>
              <a:t>Request</a:t>
            </a:r>
            <a:r>
              <a:rPr lang="it-IT" sz="1100">
                <a:latin typeface="Arial"/>
                <a:ea typeface="+mn-lt"/>
                <a:cs typeface="Arial"/>
              </a:rPr>
              <a:t>"</a:t>
            </a:r>
            <a:r>
              <a:rPr lang="it-IT" sz="1100">
                <a:latin typeface="Arial"/>
                <a:ea typeface="+mn-lt"/>
                <a:cs typeface="+mn-lt"/>
              </a:rPr>
              <a:t>.</a:t>
            </a:r>
            <a:endParaRPr lang="it-IT" sz="11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100">
                <a:latin typeface="Arial"/>
                <a:ea typeface="+mn-lt"/>
                <a:cs typeface="+mn-lt"/>
              </a:rPr>
              <a:t>Se tutto va bene, l’utente viene salvato nel database e viene restituito un messaggio di benvenuto.</a:t>
            </a:r>
            <a:endParaRPr lang="it-IT" sz="11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100" b="1">
                <a:latin typeface="Arial"/>
                <a:ea typeface="+mn-lt"/>
                <a:cs typeface="+mn-lt"/>
              </a:rPr>
              <a:t>NB:</a:t>
            </a:r>
            <a:r>
              <a:rPr lang="it-IT" sz="1100">
                <a:latin typeface="Arial"/>
                <a:ea typeface="+mn-lt"/>
                <a:cs typeface="+mn-lt"/>
              </a:rPr>
              <a:t> Il controllo sull’unicità del </a:t>
            </a:r>
            <a:r>
              <a:rPr lang="it-IT" sz="1100">
                <a:latin typeface="Arial"/>
                <a:cs typeface="Arial"/>
              </a:rPr>
              <a:t>username</a:t>
            </a:r>
            <a:r>
              <a:rPr lang="it-IT" sz="1100">
                <a:latin typeface="Arial"/>
                <a:ea typeface="+mn-lt"/>
                <a:cs typeface="+mn-lt"/>
              </a:rPr>
              <a:t> è fondamentale per evitare conflitti.</a:t>
            </a:r>
            <a:endParaRPr lang="it-IT" sz="1100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100"/>
          </a:p>
        </p:txBody>
      </p:sp>
    </p:spTree>
    <p:extLst>
      <p:ext uri="{BB962C8B-B14F-4D97-AF65-F5344CB8AC3E}">
        <p14:creationId xmlns:p14="http://schemas.microsoft.com/office/powerpoint/2010/main" val="34389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9D255A6-D2BA-37AF-826D-6934ECB5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400"/>
              <a:t>Api – delete/users/</a:t>
            </a:r>
            <a:br>
              <a:rPr lang="it-IT" sz="3400"/>
            </a:br>
            <a:br>
              <a:rPr lang="it-IT" sz="3400"/>
            </a:br>
            <a:r>
              <a:rPr lang="it-IT" sz="3400" err="1"/>
              <a:t>idda</a:t>
            </a:r>
            <a:r>
              <a:rPr lang="it-IT" sz="3400"/>
              <a:t> </a:t>
            </a:r>
            <a:r>
              <a:rPr lang="it-IT" sz="3400" err="1"/>
              <a:t>matteo</a:t>
            </a:r>
          </a:p>
        </p:txBody>
      </p: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10E87DAE-1978-DA00-E450-55A410A0BF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338" b="-1"/>
          <a:stretch>
            <a:fillRect/>
          </a:stretch>
        </p:blipFill>
        <p:spPr>
          <a:xfrm>
            <a:off x="800100" y="717656"/>
            <a:ext cx="10481366" cy="30861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DB4556-5DCA-893D-874F-74148431F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3" y="4088705"/>
            <a:ext cx="6135924" cy="20939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600">
                <a:latin typeface="Arial"/>
                <a:ea typeface="+mn-lt"/>
                <a:cs typeface="+mn-lt"/>
              </a:rPr>
              <a:t>Funzionalità:</a:t>
            </a:r>
            <a:endParaRPr lang="it-IT"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600">
                <a:latin typeface="Arial"/>
                <a:ea typeface="+mn-lt"/>
                <a:cs typeface="+mn-lt"/>
              </a:rPr>
              <a:t>Elimina tutti gli utenti presenti nel database.</a:t>
            </a:r>
            <a:endParaRPr lang="it-IT"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600">
                <a:latin typeface="Arial"/>
                <a:ea typeface="+mn-lt"/>
                <a:cs typeface="+mn-lt"/>
              </a:rPr>
              <a:t>Prima di eliminare gli utenti, cancella anche tutte le registrazioni associate (dal modello </a:t>
            </a:r>
            <a:r>
              <a:rPr lang="it-IT" sz="1600" err="1">
                <a:latin typeface="Arial"/>
                <a:cs typeface="Arial"/>
              </a:rPr>
              <a:t>Registration</a:t>
            </a:r>
            <a:r>
              <a:rPr lang="it-IT" sz="1600">
                <a:latin typeface="Arial"/>
                <a:ea typeface="+mn-lt"/>
                <a:cs typeface="+mn-lt"/>
              </a:rPr>
              <a:t>).</a:t>
            </a:r>
            <a:endParaRPr lang="it-IT"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600" err="1">
                <a:latin typeface="Arial"/>
                <a:ea typeface="+mn-lt"/>
                <a:cs typeface="+mn-lt"/>
              </a:rPr>
              <a:t>Commit</a:t>
            </a:r>
            <a:r>
              <a:rPr lang="it-IT" sz="1600">
                <a:latin typeface="Arial"/>
                <a:ea typeface="+mn-lt"/>
                <a:cs typeface="+mn-lt"/>
              </a:rPr>
              <a:t> finale per salvare le modifiche.</a:t>
            </a:r>
            <a:endParaRPr lang="it-IT"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600">
                <a:latin typeface="Arial"/>
                <a:cs typeface="Arial"/>
              </a:rPr>
              <a:t>L'operazione è IRREVERSIBILE</a:t>
            </a:r>
          </a:p>
        </p:txBody>
      </p:sp>
    </p:spTree>
    <p:extLst>
      <p:ext uri="{BB962C8B-B14F-4D97-AF65-F5344CB8AC3E}">
        <p14:creationId xmlns:p14="http://schemas.microsoft.com/office/powerpoint/2010/main" val="83917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424F303-3B45-061D-411E-FFE9022D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600"/>
              <a:t>API – DELETE/USERS/{username}/</a:t>
            </a:r>
            <a:br>
              <a:rPr lang="it-IT" sz="1600"/>
            </a:br>
            <a:br>
              <a:rPr lang="it-IT" sz="1600"/>
            </a:br>
            <a:r>
              <a:rPr lang="it-IT" sz="1600" err="1"/>
              <a:t>idda</a:t>
            </a:r>
            <a:r>
              <a:rPr lang="it-IT" sz="1600"/>
              <a:t> </a:t>
            </a:r>
            <a:r>
              <a:rPr lang="it-IT" sz="1600" err="1"/>
              <a:t>matteo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schermata, Carattere, software&#10;&#10;Il contenuto generato dall&amp;#39;IA potrebbe non essere corretto.">
            <a:extLst>
              <a:ext uri="{FF2B5EF4-FFF2-40B4-BE49-F238E27FC236}">
                <a16:creationId xmlns:a16="http://schemas.microsoft.com/office/drawing/2014/main" id="{8F8AE08E-F1FC-0F41-18D6-19FF3D5B3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29" y="2406829"/>
            <a:ext cx="6072188" cy="2459235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FC1C01-39A6-701A-160E-D58DDBBC3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0" indent="0">
              <a:buNone/>
            </a:pPr>
            <a:r>
              <a:rPr lang="it-IT" dirty="0">
                <a:latin typeface="Arial"/>
                <a:ea typeface="+mn-lt"/>
                <a:cs typeface="+mn-lt"/>
              </a:rPr>
              <a:t>Ricerca l’utente tramite </a:t>
            </a:r>
            <a:r>
              <a:rPr lang="it-IT" dirty="0">
                <a:latin typeface="Arial"/>
                <a:cs typeface="Arial"/>
              </a:rPr>
              <a:t>username</a:t>
            </a:r>
            <a:r>
              <a:rPr lang="it-IT" dirty="0">
                <a:latin typeface="Arial"/>
                <a:ea typeface="+mn-lt"/>
                <a:cs typeface="+mn-lt"/>
              </a:rPr>
              <a:t>.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dirty="0">
                <a:latin typeface="Arial"/>
                <a:ea typeface="+mn-lt"/>
                <a:cs typeface="+mn-lt"/>
              </a:rPr>
              <a:t>Se non trovato, restituisce "errore </a:t>
            </a:r>
            <a:r>
              <a:rPr lang="it-IT" dirty="0">
                <a:latin typeface="Arial"/>
                <a:cs typeface="Arial"/>
              </a:rPr>
              <a:t>404 Not </a:t>
            </a:r>
            <a:r>
              <a:rPr lang="it-IT" dirty="0" err="1">
                <a:latin typeface="Arial"/>
                <a:cs typeface="Arial"/>
              </a:rPr>
              <a:t>Found</a:t>
            </a:r>
            <a:r>
              <a:rPr lang="it-IT" dirty="0">
                <a:latin typeface="Arial"/>
                <a:ea typeface="+mn-lt"/>
                <a:cs typeface="Arial"/>
              </a:rPr>
              <a:t>"</a:t>
            </a:r>
            <a:r>
              <a:rPr lang="it-IT" dirty="0">
                <a:latin typeface="Arial"/>
                <a:ea typeface="+mn-lt"/>
                <a:cs typeface="+mn-lt"/>
              </a:rPr>
              <a:t>.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dirty="0">
                <a:latin typeface="Arial"/>
                <a:ea typeface="+mn-lt"/>
                <a:cs typeface="+mn-lt"/>
              </a:rPr>
              <a:t>Se trovato, cancella prima tutte le sue registrazioni (per evitare dati orfani).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dirty="0">
                <a:latin typeface="Arial"/>
                <a:ea typeface="+mn-lt"/>
                <a:cs typeface="+mn-lt"/>
              </a:rPr>
              <a:t>Poi elimina l’utente.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dirty="0" err="1">
                <a:latin typeface="Arial"/>
                <a:ea typeface="+mn-lt"/>
                <a:cs typeface="+mn-lt"/>
              </a:rPr>
              <a:t>Commit</a:t>
            </a:r>
            <a:r>
              <a:rPr lang="it-IT" dirty="0">
                <a:latin typeface="Arial"/>
                <a:ea typeface="+mn-lt"/>
                <a:cs typeface="+mn-lt"/>
              </a:rPr>
              <a:t> finale per i cambiamenti.</a:t>
            </a:r>
            <a:br>
              <a:rPr lang="it-IT" dirty="0">
                <a:latin typeface="Arial"/>
                <a:ea typeface="+mn-lt"/>
                <a:cs typeface="+mn-lt"/>
              </a:rPr>
            </a:br>
            <a:br>
              <a:rPr lang="it-IT" dirty="0">
                <a:latin typeface="Arial"/>
                <a:ea typeface="+mn-lt"/>
                <a:cs typeface="+mn-lt"/>
              </a:rPr>
            </a:br>
            <a:r>
              <a:rPr lang="it-IT" dirty="0">
                <a:latin typeface="Arial"/>
              </a:rPr>
              <a:t>Interazione con la classe </a:t>
            </a:r>
            <a:r>
              <a:rPr lang="it-IT" dirty="0" err="1">
                <a:latin typeface="Arial"/>
              </a:rPr>
              <a:t>Registration</a:t>
            </a:r>
            <a:r>
              <a:rPr lang="it-IT" dirty="0">
                <a:latin typeface="Arial"/>
              </a:rPr>
              <a:t>.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endParaRPr lang="it-IT" b="1" dirty="0"/>
          </a:p>
          <a:p>
            <a:endParaRPr lang="it-IT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921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8935E5F-C9B3-D373-3C0C-9EDCA058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2500"/>
              <a:t>Api – </a:t>
            </a:r>
            <a:r>
              <a:rPr lang="it-IT" sz="2500" err="1"/>
              <a:t>get</a:t>
            </a:r>
            <a:r>
              <a:rPr lang="it-IT" sz="2500"/>
              <a:t>/users/{username}</a:t>
            </a:r>
            <a:br>
              <a:rPr lang="en-US" sz="2500"/>
            </a:br>
            <a:br>
              <a:rPr lang="en-US" sz="2500"/>
            </a:br>
            <a:r>
              <a:rPr lang="it-IT" sz="2500" err="1"/>
              <a:t>idda</a:t>
            </a:r>
            <a:r>
              <a:rPr lang="it-IT" sz="2500"/>
              <a:t> </a:t>
            </a:r>
            <a:r>
              <a:rPr lang="it-IT" sz="2500" err="1"/>
              <a:t>matteo</a:t>
            </a:r>
          </a:p>
        </p:txBody>
      </p: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755D4E00-04F4-0570-E48B-3A26CB6B53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2" r="9681"/>
          <a:stretch>
            <a:fillRect/>
          </a:stretch>
        </p:blipFill>
        <p:spPr>
          <a:xfrm>
            <a:off x="800100" y="717656"/>
            <a:ext cx="10591800" cy="30861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1CB3AD-3C9A-88AA-5B05-E6A6740E6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3" y="4088705"/>
            <a:ext cx="6135924" cy="209397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Funzionalità:</a:t>
            </a:r>
            <a:endParaRPr lang="it-IT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Ricerca nel database un utente specifico tramite lo </a:t>
            </a:r>
            <a:r>
              <a:rPr lang="it-IT" sz="1400">
                <a:latin typeface="Arial"/>
                <a:cs typeface="Arial"/>
              </a:rPr>
              <a:t>username</a:t>
            </a:r>
            <a:r>
              <a:rPr lang="it-IT" sz="1400">
                <a:latin typeface="Arial"/>
                <a:ea typeface="+mn-lt"/>
                <a:cs typeface="Arial"/>
              </a:rPr>
              <a:t> che ricordiamo essere </a:t>
            </a:r>
            <a:r>
              <a:rPr lang="it-IT" sz="1400" err="1">
                <a:latin typeface="Arial"/>
                <a:ea typeface="+mn-lt"/>
                <a:cs typeface="Arial"/>
              </a:rPr>
              <a:t>primary</a:t>
            </a:r>
            <a:r>
              <a:rPr lang="it-IT" sz="1400">
                <a:latin typeface="Arial"/>
                <a:ea typeface="+mn-lt"/>
                <a:cs typeface="Arial"/>
              </a:rPr>
              <a:t> key</a:t>
            </a:r>
            <a:r>
              <a:rPr lang="it-IT" sz="1400">
                <a:latin typeface="Arial"/>
                <a:ea typeface="+mn-lt"/>
                <a:cs typeface="+mn-lt"/>
              </a:rPr>
              <a:t>.</a:t>
            </a:r>
            <a:endParaRPr lang="it-IT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Se non trovato, restituisce "errore </a:t>
            </a:r>
            <a:r>
              <a:rPr lang="it-IT" sz="1400">
                <a:latin typeface="Arial"/>
                <a:cs typeface="Arial"/>
              </a:rPr>
              <a:t>404 Not </a:t>
            </a:r>
            <a:r>
              <a:rPr lang="it-IT" sz="1400" err="1">
                <a:latin typeface="Arial"/>
                <a:cs typeface="Arial"/>
              </a:rPr>
              <a:t>Found</a:t>
            </a:r>
            <a:r>
              <a:rPr lang="it-IT" sz="1400">
                <a:latin typeface="Arial"/>
                <a:ea typeface="+mn-lt"/>
                <a:cs typeface="Arial"/>
              </a:rPr>
              <a:t>"</a:t>
            </a:r>
            <a:r>
              <a:rPr lang="it-IT" sz="1400">
                <a:latin typeface="Arial"/>
                <a:ea typeface="+mn-lt"/>
                <a:cs typeface="+mn-lt"/>
              </a:rPr>
              <a:t>.</a:t>
            </a:r>
            <a:endParaRPr lang="it-IT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Altrimenti, ritorna l’oggetto </a:t>
            </a:r>
            <a:r>
              <a:rPr lang="it-IT" sz="1400">
                <a:latin typeface="Arial"/>
                <a:cs typeface="Arial"/>
              </a:rPr>
              <a:t>User</a:t>
            </a:r>
            <a:r>
              <a:rPr lang="it-IT" sz="1400">
                <a:latin typeface="Arial"/>
                <a:ea typeface="+mn-lt"/>
                <a:cs typeface="+mn-lt"/>
              </a:rPr>
              <a:t>.</a:t>
            </a:r>
            <a:endParaRPr lang="it-IT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Utilizzo tipico: consultazione dei dati di un singolo utente, ad esempio nel profilo personale.</a:t>
            </a:r>
            <a:endParaRPr lang="it-IT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418081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BA532-A95C-D1FA-C439-A64B1731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09C92F4-CE0C-B41B-8BF2-EB92CC4B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700"/>
              <a:t>Introduzione alla classe – </a:t>
            </a:r>
            <a:r>
              <a:rPr lang="it-IT" sz="3700" err="1"/>
              <a:t>registration</a:t>
            </a:r>
            <a:br>
              <a:rPr lang="it-IT" sz="3700"/>
            </a:br>
            <a:r>
              <a:rPr lang="it-IT" sz="3700" err="1"/>
              <a:t>mercurelli</a:t>
            </a:r>
            <a:r>
              <a:rPr lang="it-IT" sz="3700"/>
              <a:t> </a:t>
            </a:r>
            <a:r>
              <a:rPr lang="it-IT" sz="3700" err="1"/>
              <a:t>alberto</a:t>
            </a:r>
          </a:p>
        </p:txBody>
      </p:sp>
      <p:cxnSp>
        <p:nvCxnSpPr>
          <p:cNvPr id="19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0BED2DEC-5C9A-D28B-EE8F-0BE1A5C28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541602"/>
            <a:ext cx="5138688" cy="1413138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65AF3E-E8D2-53DA-AA7E-1F9B37C53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600" b="1" dirty="0">
                <a:latin typeface="Arial"/>
                <a:ea typeface="+mn-lt"/>
                <a:cs typeface="+mn-lt"/>
              </a:rPr>
              <a:t>Cosa rappresenta:</a:t>
            </a:r>
            <a:br>
              <a:rPr lang="it-IT" sz="1600" dirty="0">
                <a:latin typeface="Arial"/>
                <a:ea typeface="+mn-lt"/>
                <a:cs typeface="+mn-lt"/>
              </a:rPr>
            </a:br>
            <a:r>
              <a:rPr lang="it-IT" sz="1600" dirty="0">
                <a:latin typeface="Arial"/>
                <a:ea typeface="+mn-lt"/>
                <a:cs typeface="+mn-lt"/>
              </a:rPr>
              <a:t> La classe </a:t>
            </a:r>
            <a:r>
              <a:rPr lang="it-IT" sz="1600" dirty="0" err="1">
                <a:latin typeface="Arial"/>
                <a:cs typeface="Arial"/>
              </a:rPr>
              <a:t>Registration</a:t>
            </a:r>
            <a:r>
              <a:rPr lang="it-IT" sz="1600" dirty="0">
                <a:latin typeface="Arial"/>
                <a:ea typeface="+mn-lt"/>
                <a:cs typeface="+mn-lt"/>
              </a:rPr>
              <a:t> rappresenta l’associazione tra un utente e un evento. In altre parole, indica che un determinato utente si è registrato (prenotato) per partecipare a un certo evento.</a:t>
            </a:r>
            <a:endParaRPr lang="it-IT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600" dirty="0">
                <a:latin typeface="Arial"/>
                <a:ea typeface="+mn-lt"/>
                <a:cs typeface="+mn-lt"/>
              </a:rPr>
              <a:t>Chiavi primarie:</a:t>
            </a:r>
            <a:endParaRPr lang="it-IT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600" dirty="0">
                <a:latin typeface="Arial"/>
                <a:cs typeface="Arial"/>
              </a:rPr>
              <a:t>username</a:t>
            </a:r>
            <a:r>
              <a:rPr lang="it-IT" sz="1600" dirty="0">
                <a:latin typeface="Arial"/>
                <a:ea typeface="+mn-lt"/>
                <a:cs typeface="+mn-lt"/>
              </a:rPr>
              <a:t>: identificatore dell’utente (collegato a </a:t>
            </a:r>
            <a:r>
              <a:rPr lang="it-IT" sz="1600" dirty="0">
                <a:latin typeface="Arial"/>
                <a:cs typeface="Arial"/>
              </a:rPr>
              <a:t>User</a:t>
            </a:r>
            <a:r>
              <a:rPr lang="it-IT" sz="1600" dirty="0">
                <a:latin typeface="Arial"/>
                <a:ea typeface="+mn-lt"/>
                <a:cs typeface="+mn-lt"/>
              </a:rPr>
              <a:t>)</a:t>
            </a:r>
            <a:endParaRPr lang="it-IT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600" dirty="0" err="1">
                <a:latin typeface="Arial"/>
                <a:cs typeface="Arial"/>
              </a:rPr>
              <a:t>event_id</a:t>
            </a:r>
            <a:r>
              <a:rPr lang="it-IT" sz="1600" dirty="0">
                <a:latin typeface="Arial"/>
                <a:ea typeface="+mn-lt"/>
                <a:cs typeface="+mn-lt"/>
              </a:rPr>
              <a:t>: identificatore dell’evento (collegato a </a:t>
            </a:r>
            <a:r>
              <a:rPr lang="it-IT" sz="1600" dirty="0">
                <a:latin typeface="Arial"/>
                <a:cs typeface="Arial"/>
              </a:rPr>
              <a:t>Event</a:t>
            </a:r>
            <a:r>
              <a:rPr lang="it-IT" sz="1600" dirty="0">
                <a:latin typeface="Arial"/>
                <a:ea typeface="+mn-lt"/>
                <a:cs typeface="+mn-lt"/>
              </a:rPr>
              <a:t>)</a:t>
            </a:r>
            <a:endParaRPr lang="it-IT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600" dirty="0">
                <a:latin typeface="Arial"/>
                <a:ea typeface="+mn-lt"/>
                <a:cs typeface="+mn-lt"/>
              </a:rPr>
              <a:t>Entrambi i campi sono chiavi primarie composite, per garantire l’unicità della coppia utente-evento.</a:t>
            </a:r>
            <a:endParaRPr lang="it-IT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600" dirty="0">
                <a:latin typeface="Arial"/>
                <a:ea typeface="+mn-lt"/>
                <a:cs typeface="+mn-lt"/>
              </a:rPr>
              <a:t>Modello </a:t>
            </a:r>
            <a:r>
              <a:rPr lang="it-IT" sz="1600" dirty="0">
                <a:latin typeface="Arial"/>
                <a:cs typeface="Arial"/>
              </a:rPr>
              <a:t>SQL </a:t>
            </a:r>
            <a:r>
              <a:rPr lang="it-IT" sz="1600" dirty="0" err="1">
                <a:latin typeface="Arial"/>
                <a:cs typeface="Arial"/>
              </a:rPr>
              <a:t>CreaRegistrazione</a:t>
            </a:r>
            <a:r>
              <a:rPr lang="it-IT" sz="1600" dirty="0">
                <a:latin typeface="Arial"/>
                <a:ea typeface="+mn-lt"/>
                <a:cs typeface="+mn-lt"/>
              </a:rPr>
              <a:t>:</a:t>
            </a:r>
            <a:endParaRPr lang="it-IT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600" dirty="0">
                <a:latin typeface="Arial"/>
                <a:ea typeface="+mn-lt"/>
                <a:cs typeface="+mn-lt"/>
              </a:rPr>
              <a:t>Contiene solo il campo </a:t>
            </a:r>
            <a:r>
              <a:rPr lang="it-IT" sz="1600" dirty="0">
                <a:latin typeface="Arial"/>
                <a:cs typeface="Arial"/>
              </a:rPr>
              <a:t>username</a:t>
            </a:r>
            <a:r>
              <a:rPr lang="it-IT" sz="1600" dirty="0">
                <a:latin typeface="Arial"/>
                <a:ea typeface="+mn-lt"/>
                <a:cs typeface="+mn-lt"/>
              </a:rPr>
              <a:t> e viene usato come input per alcune API (anche se in questa parte del codice non è ancora utilizzato direttamente).</a:t>
            </a:r>
            <a:endParaRPr lang="it-IT" sz="1600" dirty="0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8681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74854DA-29CA-DB72-5FAA-564E8227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700"/>
              <a:t>Api – </a:t>
            </a:r>
            <a:r>
              <a:rPr lang="it-IT" sz="3700" err="1"/>
              <a:t>get</a:t>
            </a:r>
            <a:r>
              <a:rPr lang="it-IT" sz="3700"/>
              <a:t>/</a:t>
            </a:r>
            <a:r>
              <a:rPr lang="it-IT" sz="3700" err="1"/>
              <a:t>registrations</a:t>
            </a:r>
            <a:r>
              <a:rPr lang="it-IT" sz="3700"/>
              <a:t>/</a:t>
            </a:r>
            <a:br>
              <a:rPr lang="it-IT" sz="3700"/>
            </a:br>
            <a:r>
              <a:rPr lang="it-IT" sz="3700" err="1"/>
              <a:t>mercurelli</a:t>
            </a:r>
            <a:r>
              <a:rPr lang="it-IT" sz="3700"/>
              <a:t> </a:t>
            </a:r>
            <a:r>
              <a:rPr lang="it-IT" sz="3700" err="1"/>
              <a:t>alberto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07E99F8B-5913-3976-49FA-8758BBD9F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33" y="3296597"/>
            <a:ext cx="5549902" cy="1220978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948CB8-7DE3-B616-E19E-358ACB066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>
                <a:latin typeface="Arial"/>
                <a:ea typeface="+mn-lt"/>
                <a:cs typeface="+mn-lt"/>
              </a:rPr>
              <a:t>Recupera tutte le registrazioni presenti nel database.</a:t>
            </a:r>
            <a:endParaRPr lang="it-IT">
              <a:latin typeface="Arial"/>
              <a:cs typeface="Arial"/>
            </a:endParaRPr>
          </a:p>
          <a:p>
            <a:r>
              <a:rPr lang="it-IT" dirty="0">
                <a:latin typeface="Arial"/>
                <a:ea typeface="+mn-lt"/>
                <a:cs typeface="+mn-lt"/>
              </a:rPr>
              <a:t>Restituisce una lista di oggetti </a:t>
            </a:r>
            <a:r>
              <a:rPr lang="it-IT" dirty="0">
                <a:latin typeface="Arial"/>
                <a:cs typeface="Arial"/>
              </a:rPr>
              <a:t>"</a:t>
            </a:r>
            <a:r>
              <a:rPr lang="it-IT" dirty="0" err="1">
                <a:latin typeface="Arial"/>
                <a:cs typeface="Arial"/>
              </a:rPr>
              <a:t>Registration</a:t>
            </a:r>
            <a:r>
              <a:rPr lang="it-IT" dirty="0">
                <a:latin typeface="Arial"/>
                <a:ea typeface="+mn-lt"/>
                <a:cs typeface="Arial"/>
              </a:rPr>
              <a:t>"</a:t>
            </a:r>
            <a:r>
              <a:rPr lang="it-IT" dirty="0">
                <a:latin typeface="Arial"/>
                <a:ea typeface="+mn-lt"/>
                <a:cs typeface="+mn-lt"/>
              </a:rPr>
              <a:t>.</a:t>
            </a:r>
            <a:endParaRPr lang="it-IT" dirty="0">
              <a:latin typeface="Arial"/>
              <a:cs typeface="Arial"/>
            </a:endParaRPr>
          </a:p>
          <a:p>
            <a:r>
              <a:rPr lang="it-IT" b="1" dirty="0">
                <a:latin typeface="Arial"/>
                <a:ea typeface="+mn-lt"/>
                <a:cs typeface="+mn-lt"/>
              </a:rPr>
              <a:t>Utilizzo tipico: </a:t>
            </a:r>
            <a:r>
              <a:rPr lang="it-IT" dirty="0">
                <a:latin typeface="Arial"/>
                <a:ea typeface="+mn-lt"/>
                <a:cs typeface="+mn-lt"/>
              </a:rPr>
              <a:t>Utile per amministratori o per avere una panoramica completa delle iscrizioni agli eventi.</a:t>
            </a:r>
            <a:endParaRPr lang="it-IT" dirty="0">
              <a:latin typeface="Arial"/>
              <a:cs typeface="Arial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69370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3211138-D26A-BB2D-1264-F12847841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it-IT" dirty="0"/>
              <a:t>Api – delete/</a:t>
            </a:r>
            <a:r>
              <a:rPr lang="it-IT" dirty="0" err="1"/>
              <a:t>registrations</a:t>
            </a:r>
            <a:r>
              <a:rPr lang="it-IT" dirty="0"/>
              <a:t>/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schermata, software&#10;&#10;Il contenuto generato dall&amp;#39;IA potrebbe non essere corretto.">
            <a:extLst>
              <a:ext uri="{FF2B5EF4-FFF2-40B4-BE49-F238E27FC236}">
                <a16:creationId xmlns:a16="http://schemas.microsoft.com/office/drawing/2014/main" id="{678B94B4-67D8-8E31-05C5-E1BFAF45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" y="2500801"/>
            <a:ext cx="6072188" cy="2823566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6D59D9-5C2F-CD42-6C05-6A851CDA7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Funzionalità: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ea typeface="+mn-lt"/>
                <a:cs typeface="+mn-lt"/>
              </a:rPr>
              <a:t>Richiede due parametri: </a:t>
            </a:r>
            <a:r>
              <a:rPr lang="it-IT" sz="1400">
                <a:latin typeface="Arial"/>
                <a:cs typeface="Arial"/>
              </a:rPr>
              <a:t>username</a:t>
            </a:r>
            <a:r>
              <a:rPr lang="it-IT" sz="1400">
                <a:latin typeface="Arial"/>
                <a:ea typeface="+mn-lt"/>
                <a:cs typeface="+mn-lt"/>
              </a:rPr>
              <a:t> e </a:t>
            </a:r>
            <a:r>
              <a:rPr lang="it-IT" sz="1400" err="1">
                <a:latin typeface="Arial"/>
                <a:cs typeface="Arial"/>
              </a:rPr>
              <a:t>event_id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ea typeface="+mn-lt"/>
                <a:cs typeface="+mn-lt"/>
              </a:rPr>
              <a:t>Cerca nel database una registrazione che corrisponda a questi due parametri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ea typeface="+mn-lt"/>
                <a:cs typeface="+mn-lt"/>
              </a:rPr>
              <a:t>Se la registrazione non esiste, restituisce "errore </a:t>
            </a:r>
            <a:r>
              <a:rPr lang="it-IT" sz="1400">
                <a:latin typeface="Arial"/>
                <a:cs typeface="Arial"/>
              </a:rPr>
              <a:t>404 Not </a:t>
            </a:r>
            <a:r>
              <a:rPr lang="it-IT" sz="1400" err="1">
                <a:latin typeface="Arial"/>
                <a:cs typeface="Arial"/>
              </a:rPr>
              <a:t>Found</a:t>
            </a:r>
            <a:r>
              <a:rPr lang="it-IT" sz="1400">
                <a:latin typeface="Arial"/>
                <a:ea typeface="+mn-lt"/>
                <a:cs typeface="Arial"/>
              </a:rPr>
              <a:t>"</a:t>
            </a:r>
            <a:r>
              <a:rPr lang="it-IT" sz="1400">
                <a:latin typeface="Arial"/>
                <a:ea typeface="+mn-lt"/>
                <a:cs typeface="+mn-lt"/>
              </a:rPr>
              <a:t>.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ea typeface="+mn-lt"/>
                <a:cs typeface="+mn-lt"/>
              </a:rPr>
              <a:t>Se trovata, viene eliminata dal database.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ea typeface="+mn-lt"/>
                <a:cs typeface="+mn-lt"/>
              </a:rPr>
              <a:t>L’evento viene recuperato tramite </a:t>
            </a:r>
            <a:r>
              <a:rPr lang="it-IT" sz="1400" err="1">
                <a:latin typeface="Arial"/>
                <a:cs typeface="Arial"/>
              </a:rPr>
              <a:t>event_id</a:t>
            </a:r>
            <a:r>
              <a:rPr lang="it-IT" sz="1400">
                <a:latin typeface="Arial"/>
                <a:ea typeface="+mn-lt"/>
                <a:cs typeface="+mn-lt"/>
              </a:rPr>
              <a:t> per includere il titolo nel messaggio di conferma.</a:t>
            </a:r>
            <a:endParaRPr lang="it-IT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Messaggio di ritorno:</a:t>
            </a:r>
            <a:br>
              <a:rPr lang="it-IT" sz="1400">
                <a:latin typeface="Arial"/>
                <a:ea typeface="+mn-lt"/>
                <a:cs typeface="+mn-lt"/>
              </a:rPr>
            </a:br>
            <a:r>
              <a:rPr lang="it-IT" sz="1400">
                <a:latin typeface="Arial"/>
                <a:ea typeface="+mn-lt"/>
                <a:cs typeface="+mn-lt"/>
              </a:rPr>
              <a:t> Include un feedback descrittivo, indicando quale utente è stato rimosso da quale evento.</a:t>
            </a:r>
            <a:endParaRPr lang="it-IT" sz="1400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4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178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6150C03-03A3-32E1-C819-6EFF5AA05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2500"/>
              <a:t>Introduzione alla classe events</a:t>
            </a:r>
            <a:br>
              <a:rPr lang="it-IT" sz="2500"/>
            </a:br>
            <a:r>
              <a:rPr lang="it-IT" sz="2500" err="1"/>
              <a:t>mureddu</a:t>
            </a:r>
            <a:r>
              <a:rPr lang="it-IT" sz="2500"/>
              <a:t> </a:t>
            </a:r>
            <a:r>
              <a:rPr lang="it-IT" sz="2500" err="1"/>
              <a:t>simone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schermata, software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4F9FD2C9-C199-F72A-1174-F18CE7A15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47" y="1869439"/>
            <a:ext cx="5956294" cy="4139625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D14108-19B3-953B-4808-A0228068A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La classe </a:t>
            </a:r>
            <a:r>
              <a:rPr lang="it-IT" sz="1400">
                <a:latin typeface="Arial"/>
                <a:cs typeface="Arial"/>
              </a:rPr>
              <a:t>Event</a:t>
            </a:r>
            <a:r>
              <a:rPr lang="it-IT" sz="1400">
                <a:latin typeface="Arial"/>
                <a:ea typeface="+mn-lt"/>
                <a:cs typeface="+mn-lt"/>
              </a:rPr>
              <a:t> rappresenta un evento a cui gli utenti possono registrarsi. Ogni evento contiene informazioni rilevanti: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cs typeface="Arial"/>
              </a:rPr>
              <a:t>-id</a:t>
            </a:r>
            <a:r>
              <a:rPr lang="it-IT" sz="1400">
                <a:latin typeface="Arial"/>
                <a:ea typeface="+mn-lt"/>
                <a:cs typeface="+mn-lt"/>
              </a:rPr>
              <a:t>: identificativo univoco (generato automaticamente, chiave primaria)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cs typeface="Arial"/>
              </a:rPr>
              <a:t>-</a:t>
            </a:r>
            <a:r>
              <a:rPr lang="it-IT" sz="1400" err="1">
                <a:latin typeface="Arial"/>
                <a:cs typeface="Arial"/>
              </a:rPr>
              <a:t>title</a:t>
            </a:r>
            <a:r>
              <a:rPr lang="it-IT" sz="1400">
                <a:latin typeface="Arial"/>
                <a:ea typeface="+mn-lt"/>
                <a:cs typeface="+mn-lt"/>
              </a:rPr>
              <a:t>: titolo dell’evento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cs typeface="Arial"/>
              </a:rPr>
              <a:t>-</a:t>
            </a:r>
            <a:r>
              <a:rPr lang="it-IT" sz="1400" err="1">
                <a:latin typeface="Arial"/>
                <a:cs typeface="Arial"/>
              </a:rPr>
              <a:t>description</a:t>
            </a:r>
            <a:r>
              <a:rPr lang="it-IT" sz="1400">
                <a:latin typeface="Arial"/>
                <a:ea typeface="+mn-lt"/>
                <a:cs typeface="+mn-lt"/>
              </a:rPr>
              <a:t>: breve descrizione (massimo 200 caratteri)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cs typeface="Arial"/>
              </a:rPr>
              <a:t>-date</a:t>
            </a:r>
            <a:r>
              <a:rPr lang="it-IT" sz="1400">
                <a:latin typeface="Arial"/>
                <a:ea typeface="+mn-lt"/>
                <a:cs typeface="+mn-lt"/>
              </a:rPr>
              <a:t>: data dell’evento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cs typeface="Arial"/>
              </a:rPr>
              <a:t>-location</a:t>
            </a:r>
            <a:r>
              <a:rPr lang="it-IT" sz="1400">
                <a:latin typeface="Arial"/>
                <a:ea typeface="+mn-lt"/>
                <a:cs typeface="+mn-lt"/>
              </a:rPr>
              <a:t>: luogo in cui si svolge l’evento</a:t>
            </a:r>
            <a:endParaRPr lang="it-IT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Modello </a:t>
            </a:r>
            <a:r>
              <a:rPr lang="it-IT" sz="1400" err="1">
                <a:latin typeface="Arial"/>
                <a:cs typeface="Arial"/>
              </a:rPr>
              <a:t>CreaEventi</a:t>
            </a:r>
            <a:r>
              <a:rPr lang="it-IT" sz="1400">
                <a:latin typeface="Arial"/>
                <a:ea typeface="+mn-lt"/>
                <a:cs typeface="+mn-lt"/>
              </a:rPr>
              <a:t>:</a:t>
            </a:r>
            <a:br>
              <a:rPr lang="it-IT" sz="1400">
                <a:latin typeface="Arial"/>
                <a:ea typeface="+mn-lt"/>
                <a:cs typeface="+mn-lt"/>
              </a:rPr>
            </a:br>
            <a:r>
              <a:rPr lang="it-IT" sz="1400">
                <a:latin typeface="Arial"/>
                <a:ea typeface="+mn-lt"/>
                <a:cs typeface="+mn-lt"/>
              </a:rPr>
              <a:t> Utilizzato per la creazione di un evento. Contiene gli stessi campi, tranne l'</a:t>
            </a:r>
            <a:r>
              <a:rPr lang="it-IT" sz="1400">
                <a:latin typeface="Arial"/>
                <a:cs typeface="Arial"/>
              </a:rPr>
              <a:t>id</a:t>
            </a:r>
            <a:r>
              <a:rPr lang="it-IT" sz="1400">
                <a:latin typeface="Arial"/>
                <a:ea typeface="+mn-lt"/>
                <a:cs typeface="+mn-lt"/>
              </a:rPr>
              <a:t> (che viene generato automaticamente)</a:t>
            </a:r>
            <a:endParaRPr lang="it-IT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it-IT" sz="14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914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2D70386-1CD6-3014-D744-B4A64D4E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2800"/>
              <a:t>Api – get/events/</a:t>
            </a:r>
            <a:br>
              <a:rPr lang="it-IT" sz="2800"/>
            </a:br>
            <a:r>
              <a:rPr lang="it-IT" sz="2800"/>
              <a:t>API – GET/EVENTS/{ID}/</a:t>
            </a:r>
            <a:br>
              <a:rPr lang="it-IT" sz="2800"/>
            </a:br>
            <a:r>
              <a:rPr lang="it-IT" sz="2800" err="1"/>
              <a:t>mureddu</a:t>
            </a:r>
            <a:r>
              <a:rPr lang="it-IT" sz="2800"/>
              <a:t> </a:t>
            </a:r>
            <a:r>
              <a:rPr lang="it-IT" sz="2800" err="1"/>
              <a:t>simone</a:t>
            </a:r>
            <a:endParaRPr lang="it-IT" sz="2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DE2D8B-2279-64F8-456F-4704CE73F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35251"/>
            <a:ext cx="5958216" cy="37131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400" dirty="0">
                <a:latin typeface="Arial"/>
                <a:ea typeface="+mn-lt"/>
                <a:cs typeface="+mn-lt"/>
              </a:rPr>
              <a:t>Recupera e restituisce tutti gli eventi presenti nel database.</a:t>
            </a:r>
            <a:endParaRPr lang="it-IT" sz="1400" dirty="0">
              <a:latin typeface="Arial"/>
              <a:cs typeface="Arial"/>
            </a:endParaRPr>
          </a:p>
          <a:p>
            <a:r>
              <a:rPr lang="it-IT" sz="1400" dirty="0">
                <a:latin typeface="Arial"/>
                <a:ea typeface="+mn-lt"/>
                <a:cs typeface="+mn-lt"/>
              </a:rPr>
              <a:t>Utilizza una semplice query </a:t>
            </a:r>
            <a:r>
              <a:rPr lang="it-IT" sz="1400" dirty="0" err="1">
                <a:latin typeface="Arial"/>
                <a:cs typeface="Arial"/>
              </a:rPr>
              <a:t>select</a:t>
            </a:r>
            <a:r>
              <a:rPr lang="it-IT" sz="1400" dirty="0">
                <a:latin typeface="Arial"/>
                <a:cs typeface="Arial"/>
              </a:rPr>
              <a:t>(Event)</a:t>
            </a:r>
            <a:r>
              <a:rPr lang="it-IT" sz="1400" dirty="0">
                <a:latin typeface="Arial"/>
                <a:ea typeface="+mn-lt"/>
                <a:cs typeface="+mn-lt"/>
              </a:rPr>
              <a:t>.</a:t>
            </a:r>
            <a:endParaRPr lang="it-IT" sz="1400" dirty="0">
              <a:latin typeface="Arial"/>
              <a:cs typeface="Arial"/>
            </a:endParaRPr>
          </a:p>
          <a:p>
            <a:r>
              <a:rPr lang="it-IT" sz="1400" dirty="0">
                <a:latin typeface="Arial"/>
                <a:ea typeface="+mn-lt"/>
                <a:cs typeface="+mn-lt"/>
              </a:rPr>
              <a:t>Utilizzo: visualizzazione pubblica degli eventi disponibili a cui potersi registrare.</a:t>
            </a:r>
            <a:endParaRPr lang="it-IT" sz="1400" dirty="0">
              <a:latin typeface="Arial"/>
              <a:cs typeface="Arial"/>
            </a:endParaRPr>
          </a:p>
          <a:p>
            <a:endParaRPr lang="it-IT" sz="1400" dirty="0">
              <a:latin typeface="Arial"/>
            </a:endParaRPr>
          </a:p>
          <a:p>
            <a:endParaRPr lang="it-IT" sz="1400" dirty="0">
              <a:latin typeface="Arial"/>
            </a:endParaRPr>
          </a:p>
          <a:p>
            <a:r>
              <a:rPr lang="it-IT" sz="1400" dirty="0">
                <a:latin typeface="Arial"/>
                <a:cs typeface="Arial"/>
              </a:rPr>
              <a:t>Recupera e restituisce un singolo evento tramite il campo "id".</a:t>
            </a:r>
          </a:p>
          <a:p>
            <a:r>
              <a:rPr lang="it-IT" sz="1400" dirty="0">
                <a:latin typeface="Arial"/>
                <a:cs typeface="Arial"/>
              </a:rPr>
              <a:t>Se non esiste, semplicemente restituisce un "</a:t>
            </a:r>
            <a:r>
              <a:rPr lang="it-IT" sz="1400" dirty="0" err="1">
                <a:latin typeface="Arial"/>
                <a:cs typeface="Arial"/>
              </a:rPr>
              <a:t>error</a:t>
            </a:r>
            <a:r>
              <a:rPr lang="it-IT" sz="1400" dirty="0">
                <a:latin typeface="Arial"/>
                <a:cs typeface="Arial"/>
              </a:rPr>
              <a:t> 404".</a:t>
            </a:r>
          </a:p>
          <a:p>
            <a:endParaRPr lang="it-IT" dirty="0"/>
          </a:p>
        </p:txBody>
      </p: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63B9393F-A697-6C3B-556D-5D56F176C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229" y="2221555"/>
            <a:ext cx="4076700" cy="107281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73AE709D-7B5E-8F04-72E6-761028141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340650"/>
            <a:ext cx="4076700" cy="105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71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D56562B-D64E-1E5C-FC6D-2128CDED5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700"/>
              <a:t>Api – post/events/</a:t>
            </a:r>
            <a:br>
              <a:rPr lang="it-IT" sz="3700"/>
            </a:br>
            <a:r>
              <a:rPr lang="it-IT" sz="3700" err="1"/>
              <a:t>mureddu</a:t>
            </a:r>
            <a:r>
              <a:rPr lang="it-IT" sz="3700"/>
              <a:t> </a:t>
            </a:r>
            <a:r>
              <a:rPr lang="it-IT" sz="3700" err="1"/>
              <a:t>simone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F2CE4646-8751-AA0E-4C75-866AADD68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8" y="3164269"/>
            <a:ext cx="5549902" cy="1540098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39529B-E20F-A6F1-34B2-42EB09FD5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b="1" dirty="0">
                <a:latin typeface="Arial"/>
                <a:ea typeface="+mn-lt"/>
                <a:cs typeface="+mn-lt"/>
              </a:rPr>
              <a:t>Funzionalità: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dirty="0">
                <a:latin typeface="Arial"/>
                <a:ea typeface="+mn-lt"/>
                <a:cs typeface="+mn-lt"/>
              </a:rPr>
              <a:t>-Riceve in input i dati di un nuovo evento tramite il modello </a:t>
            </a:r>
            <a:r>
              <a:rPr lang="it-IT" dirty="0" err="1">
                <a:latin typeface="Arial"/>
                <a:cs typeface="Arial"/>
              </a:rPr>
              <a:t>CreaEventi</a:t>
            </a:r>
            <a:r>
              <a:rPr lang="it-IT" dirty="0">
                <a:latin typeface="Arial"/>
                <a:ea typeface="+mn-lt"/>
                <a:cs typeface="+mn-lt"/>
              </a:rPr>
              <a:t>.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dirty="0">
                <a:latin typeface="Arial"/>
                <a:ea typeface="+mn-lt"/>
                <a:cs typeface="+mn-lt"/>
              </a:rPr>
              <a:t>-Crea un oggetto </a:t>
            </a:r>
            <a:r>
              <a:rPr lang="it-IT" dirty="0">
                <a:latin typeface="Arial"/>
                <a:cs typeface="Arial"/>
              </a:rPr>
              <a:t>Event</a:t>
            </a:r>
            <a:r>
              <a:rPr lang="it-IT" dirty="0">
                <a:latin typeface="Arial"/>
                <a:ea typeface="+mn-lt"/>
                <a:cs typeface="+mn-lt"/>
              </a:rPr>
              <a:t> a partire dai dati ricevuti.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dirty="0">
                <a:latin typeface="Arial"/>
                <a:ea typeface="+mn-lt"/>
                <a:cs typeface="+mn-lt"/>
              </a:rPr>
              <a:t>-Salva il nuovo evento nel database e restituisce un messaggio di conferma.</a:t>
            </a:r>
            <a:endParaRPr lang="it-IT" dirty="0">
              <a:latin typeface="Arial"/>
              <a:cs typeface="Arial"/>
            </a:endParaRPr>
          </a:p>
          <a:p>
            <a:pPr marL="0" indent="0">
              <a:buNone/>
            </a:pPr>
            <a:endParaRPr lang="it-IT" dirty="0">
              <a:latin typeface="Arial"/>
              <a:cs typeface="Arial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22622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17BB2DF-EDF6-57AF-EBA7-A11F6A34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400"/>
              <a:t>Api – put/events/{id}/</a:t>
            </a:r>
            <a:br>
              <a:rPr lang="it-IT" sz="3400"/>
            </a:br>
            <a:r>
              <a:rPr lang="it-IT" sz="3400" err="1"/>
              <a:t>mureddu</a:t>
            </a:r>
            <a:r>
              <a:rPr lang="it-IT" sz="3400"/>
              <a:t> </a:t>
            </a:r>
            <a:r>
              <a:rPr lang="it-IT" sz="3400" err="1"/>
              <a:t>simone</a:t>
            </a:r>
          </a:p>
        </p:txBody>
      </p:sp>
      <p:pic>
        <p:nvPicPr>
          <p:cNvPr id="4" name="Immagine 3" descr="Immagine che contiene testo, schermata, software, Sistema operativo&#10;&#10;Il contenuto generato dall&amp;#39;IA potrebbe non essere corretto.">
            <a:extLst>
              <a:ext uri="{FF2B5EF4-FFF2-40B4-BE49-F238E27FC236}">
                <a16:creationId xmlns:a16="http://schemas.microsoft.com/office/drawing/2014/main" id="{1E6288B1-9CAD-5561-055C-083E713770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8950"/>
          <a:stretch>
            <a:fillRect/>
          </a:stretch>
        </p:blipFill>
        <p:spPr>
          <a:xfrm>
            <a:off x="800100" y="717656"/>
            <a:ext cx="10591800" cy="30861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EF692B-6F96-F8A6-4110-F179BC7B0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3" y="4088705"/>
            <a:ext cx="6135924" cy="209397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>
                <a:latin typeface="Arial"/>
                <a:ea typeface="+mn-lt"/>
                <a:cs typeface="+mn-lt"/>
              </a:rPr>
              <a:t>Permette di modificare un evento esistente mantenendo lo stesso </a:t>
            </a:r>
            <a:r>
              <a:rPr lang="it-IT" dirty="0">
                <a:latin typeface="Arial"/>
                <a:cs typeface="Arial"/>
              </a:rPr>
              <a:t>id</a:t>
            </a:r>
            <a:r>
              <a:rPr lang="it-IT" dirty="0">
                <a:latin typeface="Arial"/>
                <a:ea typeface="+mn-lt"/>
                <a:cs typeface="+mn-lt"/>
              </a:rPr>
              <a:t>.</a:t>
            </a:r>
            <a:endParaRPr lang="it-IT" dirty="0">
              <a:latin typeface="Arial"/>
              <a:cs typeface="Arial"/>
            </a:endParaRPr>
          </a:p>
          <a:p>
            <a:r>
              <a:rPr lang="it-IT" dirty="0">
                <a:latin typeface="Arial"/>
                <a:ea typeface="+mn-lt"/>
                <a:cs typeface="+mn-lt"/>
              </a:rPr>
              <a:t>I campi </a:t>
            </a:r>
            <a:r>
              <a:rPr lang="it-IT" err="1">
                <a:latin typeface="Arial"/>
                <a:cs typeface="Arial"/>
              </a:rPr>
              <a:t>title</a:t>
            </a:r>
            <a:r>
              <a:rPr lang="it-IT" dirty="0">
                <a:latin typeface="Arial"/>
                <a:ea typeface="+mn-lt"/>
                <a:cs typeface="+mn-lt"/>
              </a:rPr>
              <a:t>, </a:t>
            </a:r>
            <a:r>
              <a:rPr lang="it-IT" err="1">
                <a:latin typeface="Arial"/>
                <a:cs typeface="Arial"/>
              </a:rPr>
              <a:t>description</a:t>
            </a:r>
            <a:r>
              <a:rPr lang="it-IT" dirty="0">
                <a:latin typeface="Arial"/>
                <a:ea typeface="+mn-lt"/>
                <a:cs typeface="+mn-lt"/>
              </a:rPr>
              <a:t>, </a:t>
            </a:r>
            <a:r>
              <a:rPr lang="it-IT" dirty="0">
                <a:latin typeface="Arial"/>
                <a:cs typeface="Arial"/>
              </a:rPr>
              <a:t>date</a:t>
            </a:r>
            <a:r>
              <a:rPr lang="it-IT" dirty="0">
                <a:latin typeface="Arial"/>
                <a:ea typeface="+mn-lt"/>
                <a:cs typeface="+mn-lt"/>
              </a:rPr>
              <a:t>, </a:t>
            </a:r>
            <a:r>
              <a:rPr lang="it-IT" dirty="0">
                <a:latin typeface="Arial"/>
                <a:cs typeface="Arial"/>
              </a:rPr>
              <a:t>location</a:t>
            </a:r>
            <a:r>
              <a:rPr lang="it-IT" dirty="0">
                <a:latin typeface="Arial"/>
                <a:ea typeface="+mn-lt"/>
                <a:cs typeface="+mn-lt"/>
              </a:rPr>
              <a:t> vengono aggiornati.</a:t>
            </a:r>
            <a:endParaRPr lang="it-IT" dirty="0">
              <a:latin typeface="Arial"/>
              <a:cs typeface="Arial"/>
            </a:endParaRPr>
          </a:p>
          <a:p>
            <a:r>
              <a:rPr lang="it-IT" dirty="0">
                <a:latin typeface="Arial"/>
                <a:ea typeface="+mn-lt"/>
                <a:cs typeface="+mn-lt"/>
              </a:rPr>
              <a:t>Se l’evento non esiste, errore </a:t>
            </a:r>
            <a:r>
              <a:rPr lang="it-IT" dirty="0">
                <a:latin typeface="Arial"/>
                <a:cs typeface="Arial"/>
              </a:rPr>
              <a:t>404</a:t>
            </a:r>
            <a:r>
              <a:rPr lang="it-IT" dirty="0">
                <a:latin typeface="Arial"/>
                <a:ea typeface="+mn-lt"/>
                <a:cs typeface="+mn-lt"/>
              </a:rPr>
              <a:t>.</a:t>
            </a:r>
            <a:endParaRPr lang="it-IT" dirty="0">
              <a:latin typeface="Arial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09636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535130-F505-83C1-E18A-83EEA8A35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it-IT" sz="3600" dirty="0"/>
              <a:t>Api – delete/events/</a:t>
            </a:r>
            <a:br>
              <a:rPr lang="it-IT" sz="3600" dirty="0"/>
            </a:br>
            <a:r>
              <a:rPr lang="it-IT" sz="3600" dirty="0"/>
              <a:t>{id}</a:t>
            </a:r>
            <a:br>
              <a:rPr lang="it-IT" sz="3600" dirty="0"/>
            </a:br>
            <a:br>
              <a:rPr lang="it-IT" sz="3600" dirty="0"/>
            </a:br>
            <a:br>
              <a:rPr lang="it-IT" sz="3600" dirty="0"/>
            </a:br>
            <a:br>
              <a:rPr lang="it-IT" sz="3600" dirty="0"/>
            </a:br>
            <a:br>
              <a:rPr lang="it-IT" sz="3600" dirty="0"/>
            </a:br>
            <a:br>
              <a:rPr lang="it-IT" sz="3600" dirty="0"/>
            </a:br>
            <a:r>
              <a:rPr lang="it-IT" sz="3600" dirty="0"/>
              <a:t>Api – delete/events/</a:t>
            </a:r>
            <a:br>
              <a:rPr lang="it-IT" sz="3600" dirty="0"/>
            </a:br>
            <a:br>
              <a:rPr lang="it-IT" sz="3600" dirty="0"/>
            </a:br>
            <a:br>
              <a:rPr lang="it-IT" sz="3700" dirty="0"/>
            </a:br>
            <a:r>
              <a:rPr lang="it-IT" sz="3700" dirty="0" err="1"/>
              <a:t>mureddu</a:t>
            </a:r>
            <a:r>
              <a:rPr lang="it-IT" sz="3700" dirty="0"/>
              <a:t> </a:t>
            </a:r>
            <a:r>
              <a:rPr lang="it-IT" sz="3700" dirty="0" err="1"/>
              <a:t>simone</a:t>
            </a:r>
            <a:endParaRPr lang="it-IT" sz="3700" dirty="0"/>
          </a:p>
        </p:txBody>
      </p:sp>
      <p:cxnSp>
        <p:nvCxnSpPr>
          <p:cNvPr id="26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6AD5B543-E06D-982E-0714-0AF281488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500" y="1978380"/>
            <a:ext cx="5138688" cy="1670073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CBF8AA-58B2-D21F-9057-113661DE2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>
                <a:latin typeface="Arial"/>
                <a:cs typeface="Arial"/>
              </a:rPr>
              <a:t>Molto semplicemente </a:t>
            </a:r>
            <a:r>
              <a:rPr lang="it-IT" dirty="0">
                <a:latin typeface="Arial"/>
                <a:ea typeface="+mn-lt"/>
                <a:cs typeface="+mn-lt"/>
              </a:rPr>
              <a:t>elimina un evento specifico dato il suo </a:t>
            </a:r>
            <a:r>
              <a:rPr lang="it-IT" dirty="0">
                <a:latin typeface="Arial"/>
                <a:cs typeface="Arial"/>
              </a:rPr>
              <a:t>id,</a:t>
            </a:r>
            <a:r>
              <a:rPr lang="it-IT" dirty="0">
                <a:latin typeface="Arial"/>
                <a:ea typeface="+mn-lt"/>
                <a:cs typeface="+mn-lt"/>
              </a:rPr>
              <a:t> se non esiste: "errore </a:t>
            </a:r>
            <a:r>
              <a:rPr lang="it-IT" dirty="0">
                <a:latin typeface="Arial"/>
                <a:cs typeface="Arial"/>
              </a:rPr>
              <a:t>404</a:t>
            </a:r>
            <a:r>
              <a:rPr lang="it-IT" dirty="0">
                <a:latin typeface="Arial"/>
                <a:ea typeface="+mn-lt"/>
                <a:cs typeface="+mn-lt"/>
              </a:rPr>
              <a:t>".</a:t>
            </a:r>
            <a:endParaRPr lang="it-IT" dirty="0">
              <a:latin typeface="Arial"/>
            </a:endParaRP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>
                <a:latin typeface="Arial"/>
                <a:cs typeface="Arial"/>
              </a:rPr>
              <a:t>Elimina TUTTI gli eventi.</a:t>
            </a:r>
          </a:p>
          <a:p>
            <a:r>
              <a:rPr lang="it-IT" dirty="0" err="1">
                <a:latin typeface="Arial"/>
                <a:cs typeface="Arial"/>
              </a:rPr>
              <a:t>Commit</a:t>
            </a:r>
            <a:r>
              <a:rPr lang="it-IT" dirty="0">
                <a:latin typeface="Arial"/>
                <a:cs typeface="Arial"/>
              </a:rPr>
              <a:t> per salvare, messaggio finale di successo.</a:t>
            </a:r>
          </a:p>
        </p:txBody>
      </p:sp>
      <p:pic>
        <p:nvPicPr>
          <p:cNvPr id="5" name="Immagine 4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5F0D59EE-BCA5-35C3-7BE3-7475F184E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692" y="5263924"/>
            <a:ext cx="5291818" cy="129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30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2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BFA019E-91CD-09F4-C5AB-4D472EB12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700"/>
              <a:t>Api – post/events/{id}/</a:t>
            </a:r>
            <a:r>
              <a:rPr lang="it-IT" sz="3700" err="1"/>
              <a:t>register</a:t>
            </a:r>
            <a:br>
              <a:rPr lang="it-IT" sz="3700"/>
            </a:br>
            <a:r>
              <a:rPr lang="it-IT" sz="3700" err="1"/>
              <a:t>simone</a:t>
            </a:r>
            <a:r>
              <a:rPr lang="it-IT" sz="3700"/>
              <a:t> </a:t>
            </a:r>
            <a:r>
              <a:rPr lang="it-IT" sz="3700" err="1"/>
              <a:t>mureddu</a:t>
            </a:r>
          </a:p>
        </p:txBody>
      </p:sp>
      <p:cxnSp>
        <p:nvCxnSpPr>
          <p:cNvPr id="20" name="Straight Connector 23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schermata, software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32F8B797-B780-E4BD-ED68-52982DBAE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7" y="2348871"/>
            <a:ext cx="6573159" cy="2845354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77EA4D-7FB7-DFC2-ACD6-40F37BB22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Funzionalità completa di registrazione: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ea typeface="+mn-lt"/>
                <a:cs typeface="+mn-lt"/>
              </a:rPr>
              <a:t>-Riceve l’</a:t>
            </a:r>
            <a:r>
              <a:rPr lang="it-IT" sz="1400">
                <a:latin typeface="Arial"/>
                <a:cs typeface="Arial"/>
              </a:rPr>
              <a:t>id</a:t>
            </a:r>
            <a:r>
              <a:rPr lang="it-IT" sz="1400">
                <a:latin typeface="Arial"/>
                <a:ea typeface="+mn-lt"/>
                <a:cs typeface="+mn-lt"/>
              </a:rPr>
              <a:t> dell’evento e lo </a:t>
            </a:r>
            <a:r>
              <a:rPr lang="it-IT" sz="1400">
                <a:latin typeface="Arial"/>
                <a:cs typeface="Arial"/>
              </a:rPr>
              <a:t>username</a:t>
            </a:r>
            <a:r>
              <a:rPr lang="it-IT" sz="1400">
                <a:latin typeface="Arial"/>
                <a:ea typeface="+mn-lt"/>
                <a:cs typeface="+mn-lt"/>
              </a:rPr>
              <a:t> dell’utente.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ea typeface="+mn-lt"/>
                <a:cs typeface="+mn-lt"/>
              </a:rPr>
              <a:t>-Controlla:</a:t>
            </a:r>
            <a:endParaRPr lang="it-IT"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Se l’evento esiste (</a:t>
            </a:r>
            <a:r>
              <a:rPr lang="it-IT" sz="1400">
                <a:latin typeface="Arial"/>
                <a:cs typeface="Arial"/>
              </a:rPr>
              <a:t>404</a:t>
            </a:r>
            <a:r>
              <a:rPr lang="it-IT" sz="1400">
                <a:latin typeface="Arial"/>
                <a:ea typeface="+mn-lt"/>
                <a:cs typeface="+mn-lt"/>
              </a:rPr>
              <a:t> se no)</a:t>
            </a:r>
            <a:endParaRPr lang="it-IT"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Se l’utente esiste (</a:t>
            </a:r>
            <a:r>
              <a:rPr lang="it-IT" sz="1400">
                <a:latin typeface="Arial"/>
                <a:cs typeface="Arial"/>
              </a:rPr>
              <a:t>404</a:t>
            </a:r>
            <a:r>
              <a:rPr lang="it-IT" sz="1400">
                <a:latin typeface="Arial"/>
                <a:ea typeface="+mn-lt"/>
                <a:cs typeface="+mn-lt"/>
              </a:rPr>
              <a:t> se no)</a:t>
            </a:r>
            <a:endParaRPr lang="it-IT"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Se l’utente è già registrato a quell’evento (</a:t>
            </a:r>
            <a:r>
              <a:rPr lang="it-IT" sz="1400">
                <a:latin typeface="Arial"/>
                <a:cs typeface="Arial"/>
              </a:rPr>
              <a:t>400</a:t>
            </a:r>
            <a:r>
              <a:rPr lang="it-IT" sz="1400">
                <a:latin typeface="Arial"/>
                <a:ea typeface="+mn-lt"/>
                <a:cs typeface="+mn-lt"/>
              </a:rPr>
              <a:t> se sì)</a:t>
            </a:r>
            <a:endParaRPr lang="it-IT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1400">
                <a:latin typeface="Arial"/>
                <a:ea typeface="+mn-lt"/>
                <a:cs typeface="+mn-lt"/>
              </a:rPr>
              <a:t>-Se tutto è corretto, crea una nuova registrazione.</a:t>
            </a:r>
            <a:endParaRPr lang="it-IT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it-IT" sz="1400">
                <a:latin typeface="Arial"/>
                <a:ea typeface="+mn-lt"/>
                <a:cs typeface="+mn-lt"/>
              </a:rPr>
              <a:t>Risultato:</a:t>
            </a:r>
            <a:br>
              <a:rPr lang="it-IT" sz="1400">
                <a:latin typeface="Arial"/>
                <a:ea typeface="+mn-lt"/>
                <a:cs typeface="+mn-lt"/>
              </a:rPr>
            </a:br>
            <a:r>
              <a:rPr lang="it-IT" sz="1400">
                <a:latin typeface="Arial"/>
                <a:ea typeface="+mn-lt"/>
                <a:cs typeface="+mn-lt"/>
              </a:rPr>
              <a:t> Restituisce un messaggio di successo con nome utente, titolo evento e data.</a:t>
            </a:r>
            <a:endParaRPr lang="it-IT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234412119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7" baseType="lpstr">
      <vt:lpstr>ChronicleVTI</vt:lpstr>
      <vt:lpstr>Progetto programmazione web – Fast API </vt:lpstr>
      <vt:lpstr>Introduzione alla classe – user  idda matteo</vt:lpstr>
      <vt:lpstr>API – GET/USERs/  idda matteo</vt:lpstr>
      <vt:lpstr>Api – post/users/  idda matteo</vt:lpstr>
      <vt:lpstr>Api – delete/users/  idda matteo</vt:lpstr>
      <vt:lpstr>API – DELETE/USERS/{username}/  idda matteo</vt:lpstr>
      <vt:lpstr>Api – get/users/{username}  idda matteo</vt:lpstr>
      <vt:lpstr>Introduzione alla classe – registration mercurelli alberto</vt:lpstr>
      <vt:lpstr>Api – get/registrations/ mercurelli alberto</vt:lpstr>
      <vt:lpstr>Api – delete/registrations/</vt:lpstr>
      <vt:lpstr>Introduzione alla classe events mureddu simone</vt:lpstr>
      <vt:lpstr>Api – get/events/ API – GET/EVENTS/{ID}/ mureddu simone</vt:lpstr>
      <vt:lpstr>Api – post/events/ mureddu simone</vt:lpstr>
      <vt:lpstr>Api – put/events/{id}/ mureddu simone</vt:lpstr>
      <vt:lpstr>Api – delete/events/ {id}      Api – delete/events/   mureddu simone</vt:lpstr>
      <vt:lpstr>Api – post/events/{id}/register simone mureddu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301</cp:revision>
  <dcterms:created xsi:type="dcterms:W3CDTF">2025-07-17T13:53:38Z</dcterms:created>
  <dcterms:modified xsi:type="dcterms:W3CDTF">2025-07-17T16:14:53Z</dcterms:modified>
</cp:coreProperties>
</file>